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188720"/>
            <a:ext cx="3657600" cy="36576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3291840"/>
            <a:ext cx="3108960" cy="310896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1508760" cy="457200"/>
          </a:xfrm>
          <a:prstGeom prst="roundRect">
            <a:avLst>
              <a:gd name="adj" fmla="val 20000"/>
            </a:avLst>
          </a:prstGeom>
          <a:solidFill>
            <a:srgbClr val="F7DF1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for Beginners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Bootcamp — 5 Hours of Live Coding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first console.log to a working To-Do List 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Web Development (MERN) — July 2026 Cohort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5-HOUR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Modules, One Working 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0604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3716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8992" y="13258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Tools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16367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9544" y="1234440"/>
            <a:ext cx="260604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3346704" y="13716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346704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31336" y="13258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Types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31336" y="16367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61888" y="1234440"/>
            <a:ext cx="260604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9048" y="13716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099048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13258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&amp; Strings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16367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139696"/>
            <a:ext cx="260604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22768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8992" y="223113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25420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9544" y="2139696"/>
            <a:ext cx="260604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25" name="Shape 23"/>
          <p:cNvSpPr/>
          <p:nvPr/>
        </p:nvSpPr>
        <p:spPr>
          <a:xfrm>
            <a:off x="3346704" y="22768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3346704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31336" y="223113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31336" y="25420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61888" y="2139696"/>
            <a:ext cx="260604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9048" y="22768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099048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0" y="223113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3680" y="25420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3044952"/>
            <a:ext cx="260604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" y="31821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78992" y="31363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&amp; Scope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78992" y="34472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09544" y="3044952"/>
            <a:ext cx="260604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40" name="Shape 38"/>
          <p:cNvSpPr/>
          <p:nvPr/>
        </p:nvSpPr>
        <p:spPr>
          <a:xfrm>
            <a:off x="3346704" y="31821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3346704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831336" y="31363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&amp; Events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831336" y="34472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961888" y="3044952"/>
            <a:ext cx="260604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/>
        </p:spPr>
      </p:sp>
      <p:sp>
        <p:nvSpPr>
          <p:cNvPr id="45" name="Shape 43"/>
          <p:cNvSpPr/>
          <p:nvPr/>
        </p:nvSpPr>
        <p:spPr>
          <a:xfrm>
            <a:off x="6099048" y="31821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6" name="Text 44"/>
          <p:cNvSpPr/>
          <p:nvPr/>
        </p:nvSpPr>
        <p:spPr>
          <a:xfrm>
            <a:off x="6099048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583680" y="31363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To-Do App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583680" y="34472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Snippet Tells You Where to Run 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can run in two different places. Every live-code slide today is tagged so you always know which one to use.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29968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2996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NODE TERMINAL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4505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logic &amp; 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8803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Save code in a .js file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Open the VS Code terminal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Run: node filename.js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Output prints in the terminal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182880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4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2029968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42A5F5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02996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BROWSER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37760" y="24505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touching the page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8803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Save code in an .html file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Right-click → Open with Live Server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Page opens in your browser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Press F12 to see console output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2926080"/>
            <a:ext cx="2743200" cy="27432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&amp; Tools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· VS Code · Live Server · Folder Structure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TYPE ANYTHING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Your Tools Are Installed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99032"/>
            <a:ext cx="771753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should print something like v20.11.0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-v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confirms npm (comes bundled with Node)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node -v errors, install Node.js from nodejs.org (LTS version), then restart VS Code.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install two VS Code extensions from the Extensions panel: "Code Runner" and "Live Server".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ORGANIZED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Folder for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3017520"/>
          </a:xfrm>
          <a:prstGeom prst="roundRect">
            <a:avLst>
              <a:gd name="adj" fmla="val 2424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99032"/>
            <a:ext cx="7717536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js-bootcamp/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01-variables.js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02-strings.js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03-loops.js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04-arrays.js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05-dom.html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todo-app/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index.html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script.js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37960" y="34747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F7DF1E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3474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BOTH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Hello World — Both Ways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99032"/>
            <a:ext cx="34655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hello.js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console.log("Hello, Node!");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23444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65192" y="1399032"/>
            <a:ext cx="34655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index.html --&gt;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console.log("Hello, Browser!");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hello.js  →  prints to your terminal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09160" y="29718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 Live Server  →  press F12  →  Console tab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language, two different places to run it. Today we'll use both — every slide tells you which.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2926080"/>
            <a:ext cx="2743200" cy="27432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&amp; Data Types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· const · primitives · typeof · coercion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Variable Is a Labeled Box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</a:t>
            </a:r>
            <a:pPr indent="0" marL="0">
              <a:buNone/>
            </a:pPr>
            <a:r>
              <a:rPr lang="en-US" sz="2000" b="1" dirty="0">
                <a:solidFill>
                  <a:srgbClr val="C218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2000" dirty="0">
                <a:solidFill>
                  <a:srgbClr val="3A3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2000" dirty="0">
                <a:solidFill>
                  <a:srgbClr val="3A3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is the label · 10 is what's stored inside · let means the contents can change later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declare a variable once, then read or update it anywhere later in the same file — this is the single most-used building block in all of programming.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KEYWORD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let, const — and Why We Skip var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2606040"/>
          </a:xfrm>
          <a:prstGeom prst="roundRect">
            <a:avLst>
              <a:gd name="adj" fmla="val 280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99032"/>
            <a:ext cx="7717536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score = 0;      // can be reassigned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10;          // fine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name = "Ada"; // locked after creation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"Grace";      // ❌ TypeError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(true) { var x = 1; }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console.log(x); // 1 — var leaks out of the block!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reach for const by default. Switch to let only when you know the value must change. Avoid var entirely.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37960" y="34747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3474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NODE TERMINAL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Declare, Reassign, Break It On Purpose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2743200"/>
          </a:xfrm>
          <a:prstGeom prst="roundRect">
            <a:avLst>
              <a:gd name="adj" fmla="val 266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99032"/>
            <a:ext cx="77175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lives = 3;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console.log(lives);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lives = lives - 1;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console.log(lives);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MAX_LIVES = 3;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MAX_LIVES = 5;  // try this — read the error message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01-variables.js, run node 01-variables.js. Read the exact wording of the TypeError — you'll see it often.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VALUES CAN BE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Data Types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07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1618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19110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always quoted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307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383280" y="1618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/ 3.14 / -8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83280" y="19110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or decimal — one type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23444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1307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172200" y="1618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/ false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2200" y="19110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yes/no switch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4963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4360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" y="3099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ordered list of values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4231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24963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383280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id: 1 }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83280" y="3099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Key/value labeled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4231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24963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 / null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172200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x;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72200" y="3099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yet, or empty on purpose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 VALUE'S 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typeof Operator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2286000"/>
          </a:xfrm>
          <a:prstGeom prst="roundRect">
            <a:avLst>
              <a:gd name="adj" fmla="val 3200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99032"/>
            <a:ext cx="771753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"hello";     // "string"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42;           // "number"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true;         // "boolean"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undefined;    // "undefined"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[1, 2, 3];    // "object" (yes, arrays too!)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typeof { id: 1 };    // "object"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whenever you're not sure what kind of value you're dealing with — very common when debugging.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37960" y="34747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3474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NODE TERMINAL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typeof Playground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99032"/>
            <a:ext cx="771753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values = ["hi", 7, true, null, undefined, [1,2]];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values.forEach(v =&gt; {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console.log(v, "→", typeof v);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surprise: typeof null is "object" — a decades-old JS quirk. Point it out when it comes up.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BEGINNER TRAP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Coercion: == vs ===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2103120"/>
          </a:xfrm>
          <a:prstGeom prst="roundRect">
            <a:avLst>
              <a:gd name="adj" fmla="val 3478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99032"/>
            <a:ext cx="771753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"5" == 5     // true  — JS converts types before comparing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"5" === 5    // false — different types, no conversion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"5" + 3      // "53"  — + on a string means concatenate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"5" - 3      // 2     — minus forces both sides to numbers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=== and !== unless you have a deliberate reason not to — it avoids a whole category of bugs.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37960" y="34747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3474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NODE TERMINAL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Before You Run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2377440"/>
          </a:xfrm>
          <a:prstGeom prst="roundRect">
            <a:avLst>
              <a:gd name="adj" fmla="val 307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99032"/>
            <a:ext cx="771753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console.log(1 + "1");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console.log("10" - 5);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console.log(true + 1);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console.log("5" === 5);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console.log(0 == false);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guess for each line before running it. Discuss any that surprised you.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2926080"/>
            <a:ext cx="2743200" cy="27432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 &amp; Strings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· comparison · logical · string methods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MATH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&amp; Assignment Operators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23444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-  *  /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35808" y="1234440"/>
            <a:ext cx="5650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subtract, multiply, divide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92808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89280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35808" y="1892808"/>
            <a:ext cx="5650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— remainder after division (10 % 3 → 1)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51176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551176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35808" y="2551176"/>
            <a:ext cx="5650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 (2 ** 3 → 8)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09544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209544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+=  -=  *=  /=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35808" y="3209544"/>
            <a:ext cx="5650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Shorthand: score += 5 same as score = score + 5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67912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867912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++  --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035808" y="3867912"/>
            <a:ext cx="5650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/ decrement by exactly 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&amp; Logical Operators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71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 !==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 &lt;  &gt;=  &lt;=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5146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values, always prefer ===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42032" y="123444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2679192" y="1371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79192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79192" y="25146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only if both sides are true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26864" y="123444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4764024" y="1371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64024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64024" y="25146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either side is true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11696" y="123444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6848856" y="13716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NOT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48856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48856" y="25146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true to false and back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Strings &amp; Their Most-Used Methods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2743200"/>
          </a:xfrm>
          <a:prstGeom prst="roundRect">
            <a:avLst>
              <a:gd name="adj" fmla="val 266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99032"/>
            <a:ext cx="77175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name = "  Ada Lovelace  ";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name.length;              // 18 (includes the spaces)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name.trim();               // "Ada Lovelace"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name.toUpperCase();        // "  ADA LOVELACE  "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name.includes("Ada");     // true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name.trim().split(" ");  // ["Ada", "Lovelace"]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`Hi, ${name.trim()}!`;    // template literal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37960" y="34747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3474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NODE TERMINAL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Up Messy User Input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2468880"/>
          </a:xfrm>
          <a:prstGeom prst="roundRect">
            <a:avLst>
              <a:gd name="adj" fmla="val 296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99032"/>
            <a:ext cx="771753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raw = "   JOHN@EXAMPLE.COM   ";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cleaned = raw.trim().toLowerCase();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console.log(cleaned);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console.log(cleaned.includes("@"));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console.log(cleaned.split("@"));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pattern — trim + lowercase — is how real apps normalize form input before saving or comparing it.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2926080"/>
            <a:ext cx="2743200" cy="27432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 · switch · loops · break &amp; continue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DECISIONS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/ else if / else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2880360"/>
          </a:xfrm>
          <a:prstGeom prst="roundRect">
            <a:avLst>
              <a:gd name="adj" fmla="val 2540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99032"/>
            <a:ext cx="7717536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hour = 14;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(hour &lt; 12) 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console.log("Good morning");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(hour &lt; 18) 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console.log("Good afternoon");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console.log("Good evening");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top to bottom — the first true condition runs, and the rest are skipped entirely.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ALTERNATIVE TO MANY ELSE-IFS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switch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2880360"/>
          </a:xfrm>
          <a:prstGeom prst="roundRect">
            <a:avLst>
              <a:gd name="adj" fmla="val 2540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99032"/>
            <a:ext cx="7717536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day = "Mon";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(day) 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"Sat":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"Sun":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console.log("Weekend"); break;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console.log("Weekday");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stops it from falling into the next case. Stacked cases with no break (like Sat/Sun above) share one outcome.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37960" y="34747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3474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NODE TERMINAL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Coffee-Order Switch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3017520"/>
          </a:xfrm>
          <a:prstGeom prst="roundRect">
            <a:avLst>
              <a:gd name="adj" fmla="val 2424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99032"/>
            <a:ext cx="7717536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priceFor(drink) {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switch (drink) {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case "espresso": return 3;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case "latte": return 4.5;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case "cappuccino": return 4;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default: return 0;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console.log(priceFor("latte"));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for, while &amp; do...while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468880"/>
          </a:xfrm>
          <a:prstGeom prst="roundRect">
            <a:avLst>
              <a:gd name="adj" fmla="val 296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53312"/>
            <a:ext cx="771753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1; i &lt;= 5; i++) 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console.log(i);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 = 0;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(n &lt; 3) 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console.log(n); n++;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you know the count in advance.  while: you're waiting for something to become true (and must remember to update it, or you'll loop forever).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A LOOP MID-RUN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&amp; continue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3017520"/>
          </a:xfrm>
          <a:prstGeom prst="roundRect">
            <a:avLst>
              <a:gd name="adj" fmla="val 2424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99032"/>
            <a:ext cx="7717536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1; i &lt;= 10; i++) {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 === 5) break;     // stop the loop entirely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console.log(i);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1; i &lt;= 5; i++) {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 === 3) continue;  // skip just this iteration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console.log(i);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37960" y="34747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3474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NODE TERMINAL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 a Multiplication Table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99032"/>
            <a:ext cx="771753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table = 7;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1; i &lt;= 10; i++) {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console.log(`${table} x ${i} = ${table * i}`);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table to a different number and re-run. Try nesting a second loop to print tables 1 through 10.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37960" y="34747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3474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NODE TERMINAL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Classic: FizzBuzz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2651760"/>
          </a:xfrm>
          <a:prstGeom prst="roundRect">
            <a:avLst>
              <a:gd name="adj" fmla="val 2759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99032"/>
            <a:ext cx="771753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1; i &lt;= 15; i++) {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 % 15 === 0) console.log("FizzBuzz");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(i % 3 === 0) console.log("Fizz");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(i % 5 === 0) console.log("Buzz");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console.log(i);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%15 first matters — any multiple of 15 is also a multiple of 3 and 5.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2926080"/>
            <a:ext cx="2743200" cy="27432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· indexing · methods · forEach/map/filter/reduce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LISTS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&amp; Indexing Arrays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99032"/>
            <a:ext cx="771753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fruits = ["apple", "banana", "cherry"];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fruits[0];        // "apple"  — arrays start at 0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fruits[fruits.length - 1];  // "cherry" — last item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fruits.length;    // 3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Zero-indexing trips up every beginner at least once — the first item is index 0, not 1.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&amp; REMOVING ITEMS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Array Methods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2344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.push(x)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35808" y="1234440"/>
            <a:ext cx="5650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x to the 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64792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76479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.pop()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35808" y="1764792"/>
            <a:ext cx="5650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&amp; return the last item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95144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295144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.unshift(x)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35808" y="2295144"/>
            <a:ext cx="5650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x to the beginning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25496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825496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.shift()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35808" y="2825496"/>
            <a:ext cx="5650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&amp; return the first item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55848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35584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.splice(i, 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35808" y="3355848"/>
            <a:ext cx="5650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n items starting at index 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88620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.slice(a, b)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35808" y="3886200"/>
            <a:ext cx="5650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section — doesn't change the original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SOMETHING WITH EVERY ITEM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forEach · map · filter · reduce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331720"/>
          </a:xfrm>
          <a:prstGeom prst="roundRect">
            <a:avLst>
              <a:gd name="adj" fmla="val 313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53312"/>
            <a:ext cx="771753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8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nums = [1, 2, 3, 4, 5];</a:t>
            </a:r>
            <a:endParaRPr lang="en-US" sz="1280" dirty="0"/>
          </a:p>
          <a:p>
            <a:pPr indent="0" marL="0">
              <a:lnSpc>
                <a:spcPct val="112000"/>
              </a:lnSpc>
              <a:buNone/>
            </a:pPr>
            <a:endParaRPr lang="en-US" sz="12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8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nums.forEach(n =&gt; console.log(n));       // just run code per item</a:t>
            </a:r>
            <a:endParaRPr lang="en-US" sz="12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8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nums.map(n =&gt; n * 2);                     // → new array, transformed</a:t>
            </a:r>
            <a:endParaRPr lang="en-US" sz="12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8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nums.filter(n =&gt; n % 2 === 0);             // → new array, kept items</a:t>
            </a:r>
            <a:endParaRPr lang="en-US" sz="12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8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nums.reduce((total, n) =&gt; total + n, 0);  // → single combined value</a:t>
            </a:r>
            <a:endParaRPr lang="en-US" sz="128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transforms, filter selects, reduce combines everything into one answer. forEach just does something and returns nothing.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37960" y="34747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3474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NODE TERMINAL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Filter a Shopping List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2606040"/>
          </a:xfrm>
          <a:prstGeom prst="roundRect">
            <a:avLst>
              <a:gd name="adj" fmla="val 280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99032"/>
            <a:ext cx="7717536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list = ["milk", "eggs", "bread"];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list.push("butter");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= list.filter(item =&gt; item !== "eggs");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console.log(list);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console.log(list.map(item =&gt; item.toUpperCase()));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returns a new array — that's why we reassign list = ... to keep the change.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37960" y="34747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3474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NODE TERMINAL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a Shopping Cart With reduce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2834640"/>
          </a:xfrm>
          <a:prstGeom prst="roundRect">
            <a:avLst>
              <a:gd name="adj" fmla="val 258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53312"/>
            <a:ext cx="7717536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cart = [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item: "milk", price: 3 },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item: "eggs", price: 4 },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item: "bread", price: 2.5 },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total = cart.reduce((sum, i) =&gt; sum + i.price, 0);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console.log(`Total: $${total}`);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2926080"/>
            <a:ext cx="2743200" cy="27432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Literals · dot/bracket · destructuring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LABELED, STRUCTURED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Literals &amp; Nesting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063240"/>
          </a:xfrm>
          <a:prstGeom prst="roundRect">
            <a:avLst>
              <a:gd name="adj" fmla="val 2388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53312"/>
            <a:ext cx="7717536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student = {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"Ada",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cohort: "MERN",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address: {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city: "Lagos",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country: "Nigeria"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student.address.city;   // "Lagos" — chain dots to go deeper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ACCESS A PROPERTY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 vs Bracket Notation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606040"/>
          </a:xfrm>
          <a:prstGeom prst="roundRect">
            <a:avLst>
              <a:gd name="adj" fmla="val 280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53312"/>
            <a:ext cx="7717536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car = { make: "Toyota", model: "Corolla" };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car.make;          // dot notation — "Toyota"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car["model"];      // bracket notation — "Corolla"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key = "make";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car[key];          // bracket lets you use a variable as the key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dot notation by default. Switch to bracket notation only when the key is stored in a variable or has spaces.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37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UNPACKING VALUES QUICKLY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Destructuring Arrays &amp; Objects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743200"/>
          </a:xfrm>
          <a:prstGeom prst="roundRect">
            <a:avLst>
              <a:gd name="adj" fmla="val 266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53312"/>
            <a:ext cx="77175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car = { make: "Toyota", model: "Corolla" };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make, model } = car;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console.log(make, model);   // "Toyota" "Corolla"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colors = ["red", "green", "blue"];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[first, second] = colors;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console.log(first, second); // "red" "green"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Shorthand for pulling values out into their own variables — you'll see this constantly in real codebases.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38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37960" y="34747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3474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NODE TERMINAL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Contact Card Object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3246120"/>
          </a:xfrm>
          <a:prstGeom prst="roundRect">
            <a:avLst>
              <a:gd name="adj" fmla="val 2254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53312"/>
            <a:ext cx="7717536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contact = {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"Grace Hopper",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phone: "555-0110",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greet() {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console.log(`Hi, I'm ${this.name}`);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contact.greet();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name, phone } = contact;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39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2926080"/>
            <a:ext cx="2743200" cy="27432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&amp; Scope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Declarations · arrows · scope · higher-order functions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40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Write a Function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606040"/>
          </a:xfrm>
          <a:prstGeom prst="roundRect">
            <a:avLst>
              <a:gd name="adj" fmla="val 280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53312"/>
            <a:ext cx="7717536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add(a, b) {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subtract = function (a, b) { return a - b; };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multiply = (a, b) =&gt; a * b;         // implicit return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greet = (name = "friend") =&gt; `Hi, ${name}`;  // default param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parameters (name = "friend") kick in only when the caller leaves that argument out entirely.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41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VARIABLE IS VISIBLE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Global, Function &amp; Block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017520"/>
          </a:xfrm>
          <a:prstGeom prst="roundRect">
            <a:avLst>
              <a:gd name="adj" fmla="val 2424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53312"/>
            <a:ext cx="7717536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globalVar = "I'm everywhere";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example() {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functionVar = "only inside this function";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(true) {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blockVar = "only inside these { }";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blockVar is NOT accessible here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only exists inside the { } it was declared in (and anything nested deeper) — this is why var's leaking behavior from earlier is dangerous.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42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37960" y="34747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3474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NODE TERMINAL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Temperature Converter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2880360"/>
          </a:xfrm>
          <a:prstGeom prst="roundRect">
            <a:avLst>
              <a:gd name="adj" fmla="val 2540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53312"/>
            <a:ext cx="7717536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celsiusToFahrenheit(c) {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(c * 9) / 5 + 32;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toF = c =&gt; (c * 9) / 5 + 32;   // same thing, arrow form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console.log(celsiusToFahrenheit(0));   // 32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console.log(celsiusToFahrenheit(100));  // 212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function fahrenheitToCelsius and test it round-trips correctly.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43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AS VALUES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Passing Functions Into Functions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3200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353312"/>
            <a:ext cx="771753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operate(a, b, operation) {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operation(a, b);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operate(4, 2, (a, b) =&gt; a + b);   // 6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operate(4, 2, (a, b) =&gt; a * b);   // 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what's happening inside .map(), .filter(), and addEventListener — you're handing a function to another function to call later.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44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2926080"/>
            <a:ext cx="2743200" cy="27432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 &amp; Events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· updating · creating elements · events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45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AS AN OBJECT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DOM?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turns your HTML into a tree of objects in memory — the Document Object Model. JavaScript reads and changes that tree, and the browser instantly redraws the page.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221992"/>
            <a:ext cx="771753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 &lt;html&gt;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├─ &lt;head&gt;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└─ &lt;body&gt;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├─ &lt;header&gt;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└─ &lt;button id="add"&gt;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is your entry point into this tree from JavaScript.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46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37960" y="34747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42A5F5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3474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BROWSER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querySelector &amp; querySelectorAll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2514600"/>
          </a:xfrm>
          <a:prstGeom prst="roundRect">
            <a:avLst>
              <a:gd name="adj" fmla="val 2909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99032"/>
            <a:ext cx="7717536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document.querySelector("#pageTitle");  // first match, by id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document.querySelector(".card");       // first match, by class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document.querySelectorAll("li");        // ALL &lt;li&gt; elements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items = document.querySelectorAll("li");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items.forEach(li =&gt; console.log(li.textContent));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querySelectorAll returns a list of every match — loop over it with .forEach() to work with each one.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47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37960" y="34747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42A5F5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3474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BROWSER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Changing Content, Attributes &amp; Styles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2651760"/>
          </a:xfrm>
          <a:prstGeom prst="roundRect">
            <a:avLst>
              <a:gd name="adj" fmla="val 2759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53312"/>
            <a:ext cx="771753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img = document.querySelector("#logo");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img.textContent = "New text";     // change visible text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img.setAttribute("src", "new.png"); // change an attribute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img.style.color = "navy";           // change one style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img.classList.add("highlight");     // add a CSS class (preferred)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img.classList.toggle("hidden");     // flip a class on/off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48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37960" y="34747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42A5F5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3474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BROWSER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&amp; Removing Elements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2651760"/>
          </a:xfrm>
          <a:prstGeom prst="roundRect">
            <a:avLst>
              <a:gd name="adj" fmla="val 2759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53312"/>
            <a:ext cx="771753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list = document.querySelector("#list");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li = document.createElement("li");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li.textContent = "New item";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list.appendChild(li);      // adds it to the page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li.remove();                // takes it back out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how a to-do list adds a new item when you click "Add" — build it in JS, then attach it to the page.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49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37960" y="34747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42A5F5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3474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BROWSER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Events: The Event Object &amp; preventDefault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645920"/>
          </a:xfrm>
          <a:prstGeom prst="roundRect">
            <a:avLst>
              <a:gd name="adj" fmla="val 4444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53312"/>
            <a:ext cx="77175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form.addEventListener("submit", (event) =&gt; {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event.preventDefault();   // stop the page from reloading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console.log(event.target);  // the element the event fired on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events: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342900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342900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4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keydown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388620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4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mouseover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50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37960" y="34747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42A5F5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3474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BROWSER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Live Search Filter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3566160"/>
          </a:xfrm>
          <a:prstGeom prst="roundRect">
            <a:avLst>
              <a:gd name="adj" fmla="val 205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35024"/>
            <a:ext cx="771753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id="search" placeholder="Search fruit..."&gt;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 id="list"&gt;&lt;li&gt;Apple&lt;/li&gt;&lt;li&gt;Banana&lt;/li&gt;&lt;li&gt;Cherry&lt;/li&gt;&lt;/ul&gt;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input = document.querySelector("#search");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items = document.querySelectorAll("#list li");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input.addEventListener("input", () =&gt; {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term = input.value.toLowerCase();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items.forEach(li =&gt; {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const match = li.textContent.toLowerCase().includes(term);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li.style.display = match ? "" : "none";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});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1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51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2926080"/>
            <a:ext cx="2743200" cy="27432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Project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everything together: a working To-Do List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52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37960" y="34747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42A5F5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3474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BROWSER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To-Do List — Part 1: Add Items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3657600"/>
          </a:xfrm>
          <a:prstGeom prst="roundRect">
            <a:avLst>
              <a:gd name="adj" fmla="val 2000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35024"/>
            <a:ext cx="7717536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id="taskInput" placeholder="New task..."&gt;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id="addBtn"&gt;Add&lt;/button&gt;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 id="taskList"&gt;&lt;/ul&gt;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input = document.querySelector("#taskInput");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addBtn = document.querySelector("#addBtn");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taskList = document.querySelector("#taskList");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addBtn.addEventListener("click", () =&gt; {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(input.value.trim() === "") return;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li = document.createElement("li");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li.textContent = input.value;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taskList.appendChild(li);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input.value = "";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53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37960" y="347472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42A5F5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3474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BROWSER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To-Do List — Part 2: Complete &amp; Delete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3200400"/>
          </a:xfrm>
          <a:prstGeom prst="roundRect">
            <a:avLst>
              <a:gd name="adj" fmla="val 2286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353312"/>
            <a:ext cx="771753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taskList.addEventListener("click", (event) =&gt;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clicked = event.target;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(clicked.tagName === "LI")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clicked.classList.toggle("done");  // strike-through via CSS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(clicked.tagName === "BUTTON")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89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clicked.parentElement.remove();     // remove the whole &lt;li&gt;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listener on the whole list (event delegation) handles clicks on any item — even ones added later.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54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THE DOTS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You Learned, In One App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23444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670048" y="1234440"/>
            <a:ext cx="6016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let/const store the task list, current input, and DOM references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892808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892808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670048" y="1892808"/>
            <a:ext cx="6016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.trim() blocks empty tasks from being added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551176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551176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70048" y="2551176"/>
            <a:ext cx="6016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click handlers are functions passed into addEventListener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209544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209544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Arrays/DOM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670048" y="3209544"/>
            <a:ext cx="6016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&lt;li&gt; in the page acts like an item you add, filter, or remove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867912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867912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670048" y="3867912"/>
            <a:ext cx="6016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and input drive every interaction — nothing runs until the user acts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55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2926080"/>
            <a:ext cx="2743200" cy="27432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Practice Path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learned, and where to go next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56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We Covered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(let/const), data types, and type coercion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Operators, strings, and cleaning up user input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Conditionals, switch, loops, break &amp; continue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and their core + iteration methods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Objects, dot/bracket notation, destructuring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scope, and higher-order functions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DOM, selecting elements, and events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interactive To-Do List app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57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BUILDING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Practice Path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1371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To-Do app from memory, no peeking at the slides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23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24231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"clear completed" button and a task counter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74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03120" y="3474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tasks to localStorage so they persist on refresh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 sites: developer.mozilla.org  ·  w3schools.com/js  ·  javascript.info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58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200400" cy="3200400"/>
          </a:xfrm>
          <a:prstGeom prst="ellipse">
            <a:avLst/>
          </a:prstGeom>
          <a:solidFill>
            <a:srgbClr val="26338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snippet from today is worth retyping from scratch — muscle memory beats copy-paste.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7960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Bootcamp  ·  Slide 59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for Beginners - Full Bootcamp</dc:title>
  <dc:subject>PptxGenJS Presentation</dc:subject>
  <dc:creator>Advanced Web Development (MERN)</dc:creator>
  <cp:lastModifiedBy>Advanced Web Development (MERN)</cp:lastModifiedBy>
  <cp:revision>1</cp:revision>
  <dcterms:created xsi:type="dcterms:W3CDTF">2026-07-07T08:13:56Z</dcterms:created>
  <dcterms:modified xsi:type="dcterms:W3CDTF">2026-07-07T08:13:56Z</dcterms:modified>
</cp:coreProperties>
</file>