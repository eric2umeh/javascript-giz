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23760" y="-1188720"/>
            <a:ext cx="3657600" cy="3657600"/>
          </a:xfrm>
          <a:prstGeom prst="ellipse">
            <a:avLst/>
          </a:prstGeom>
          <a:solidFill>
            <a:srgbClr val="263380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3291840"/>
            <a:ext cx="3108960" cy="3108960"/>
          </a:xfrm>
          <a:prstGeom prst="ellipse">
            <a:avLst/>
          </a:prstGeom>
          <a:solidFill>
            <a:srgbClr val="263380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417320"/>
            <a:ext cx="1508760" cy="457200"/>
          </a:xfrm>
          <a:prstGeom prst="roundRect">
            <a:avLst>
              <a:gd name="adj" fmla="val 20000"/>
            </a:avLst>
          </a:prstGeom>
          <a:solidFill>
            <a:srgbClr val="F7DF1E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41732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JavaScript Crash Course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57200" y="2880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variables to a working interactive page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Follow-Up  ·  Advanced Web Development (MERN) — July 2026 Cohort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8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FOCUS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We're Going Deeper on JavaScript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introduced JS in five minutes — today we slow down, build real muscle memory, and code every concept together.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3931920" cy="1417320"/>
          </a:xfrm>
          <a:prstGeom prst="roundRect">
            <a:avLst>
              <a:gd name="adj" fmla="val 5161"/>
            </a:avLst>
          </a:prstGeom>
          <a:solidFill>
            <a:srgbClr val="F4F6FC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21488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25880" y="21031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&amp; Data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325880" y="2487168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let, const, and the types JS gives you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754880" y="1920240"/>
            <a:ext cx="3931920" cy="1417320"/>
          </a:xfrm>
          <a:prstGeom prst="roundRect">
            <a:avLst>
              <a:gd name="adj" fmla="val 5161"/>
            </a:avLst>
          </a:prstGeom>
          <a:solidFill>
            <a:srgbClr val="F4F6FC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983480" y="21488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498348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623560" y="21031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&amp; Control Flow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623560" y="2487168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conditionals, comparisons, loops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57200" y="3611880"/>
            <a:ext cx="3931920" cy="1417320"/>
          </a:xfrm>
          <a:prstGeom prst="roundRect">
            <a:avLst>
              <a:gd name="adj" fmla="val 5161"/>
            </a:avLst>
          </a:prstGeom>
          <a:solidFill>
            <a:srgbClr val="F4F6FC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85800" y="38404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25880" y="37947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 &amp; Objects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325880" y="4178808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storing and shaping real data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754880" y="3611880"/>
            <a:ext cx="3931920" cy="1417320"/>
          </a:xfrm>
          <a:prstGeom prst="roundRect">
            <a:avLst>
              <a:gd name="adj" fmla="val 5161"/>
            </a:avLst>
          </a:prstGeom>
          <a:solidFill>
            <a:srgbClr val="F4F6FC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983480" y="38404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498348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623560" y="37947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Functions, DOM &amp; Events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623560" y="4178808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the page react to people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57200" y="47960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Crash Course  ·  Slide 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8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Getting JavaScript Onto the Page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8229600" cy="1097280"/>
          </a:xfrm>
          <a:prstGeom prst="roundRect">
            <a:avLst>
              <a:gd name="adj" fmla="val 6667"/>
            </a:avLst>
          </a:prstGeom>
          <a:solidFill>
            <a:srgbClr val="F4F6F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44168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 &lt;script&gt;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926080" y="1344168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&lt;script&gt;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console.log("hi");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&lt;/script&gt;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172200" y="1344168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 for quick tests, not for real projects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" y="2468880"/>
            <a:ext cx="8229600" cy="1097280"/>
          </a:xfrm>
          <a:prstGeom prst="roundRect">
            <a:avLst>
              <a:gd name="adj" fmla="val 6667"/>
            </a:avLst>
          </a:prstGeom>
          <a:solidFill>
            <a:srgbClr val="F4F6FC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578608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file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926080" y="2578608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&lt;script src="app.js"&gt;&lt;/script&gt;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172200" y="2578608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 — keep JS in its own .js file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3703320"/>
            <a:ext cx="8229600" cy="1097280"/>
          </a:xfrm>
          <a:prstGeom prst="roundRect">
            <a:avLst>
              <a:gd name="adj" fmla="val 6667"/>
            </a:avLst>
          </a:prstGeom>
          <a:solidFill>
            <a:srgbClr val="F4F6FC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813048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Console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926080" y="3813048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Right-click → Inspect → Console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172200" y="3813048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best debugging friend — use it constantly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7200" y="47960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Crash Course  ·  Slide 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8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CODE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Say Hello to the Console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60920" y="365760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F7DF1E"/>
          </a:solidFill>
          <a:ln/>
        </p:spPr>
      </p:sp>
      <p:sp>
        <p:nvSpPr>
          <p:cNvPr id="5" name="Text 3"/>
          <p:cNvSpPr/>
          <p:nvPr/>
        </p:nvSpPr>
        <p:spPr>
          <a:xfrm>
            <a:off x="7360920" y="36576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CODE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8229600" cy="2651760"/>
          </a:xfrm>
          <a:prstGeom prst="roundRect">
            <a:avLst>
              <a:gd name="adj" fmla="val 2759"/>
            </a:avLst>
          </a:prstGeom>
          <a:solidFill>
            <a:srgbClr val="1E1E2E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1435608"/>
            <a:ext cx="76809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890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Comments start with //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console.log("Hello, class!");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console.log(2 + 2);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console.log("Ada" + " " + "Lovelace");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9EC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alert("This pops up a dialog box");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4069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DevTools → Console before typing this. Predict the output before you run it.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47960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Crash Course  ·  Slide 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0" y="2926080"/>
            <a:ext cx="2743200" cy="2743200"/>
          </a:xfrm>
          <a:prstGeom prst="ellipse">
            <a:avLst/>
          </a:prstGeom>
          <a:solidFill>
            <a:srgbClr val="26338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74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ONE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219456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Variables &amp; Data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44805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 ·  Data  ·  Logic  ·  Loops  ·  Arrays  ·  Objects  ·  DOM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47960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Crash Course  ·  Slide 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8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STORING VALUES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let, const — and Skip var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8229600" cy="1737360"/>
          </a:xfrm>
          <a:prstGeom prst="roundRect">
            <a:avLst>
              <a:gd name="adj" fmla="val 4211"/>
            </a:avLst>
          </a:prstGeom>
          <a:solidFill>
            <a:srgbClr val="1E1E2E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435608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score = 0;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890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 = score + 10;   // can change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9EC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name = "Ada";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890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 = "Grace";       // ❌ error: can't reassign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31546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737360" y="315468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value that will change (a counter, current input)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36118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737360" y="361188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value that stays the same (default choice)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40690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737360" y="406908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syntax, avoid — confusing scope rules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47960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Crash Course  ·  Slide 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8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VALUES CAN BE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JavaScript's Core Data Types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2651760" cy="1097280"/>
          </a:xfrm>
          <a:prstGeom prst="roundRect">
            <a:avLst>
              <a:gd name="adj" fmla="val 6667"/>
            </a:avLst>
          </a:prstGeom>
          <a:solidFill>
            <a:srgbClr val="F4F6FC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3258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16459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"hello"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194767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Text, always in quotes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46120" y="1234440"/>
            <a:ext cx="2651760" cy="1097280"/>
          </a:xfrm>
          <a:prstGeom prst="roundRect">
            <a:avLst>
              <a:gd name="adj" fmla="val 6667"/>
            </a:avLst>
          </a:prstGeom>
          <a:solidFill>
            <a:srgbClr val="F4F6FC"/>
          </a:solidFill>
          <a:ln/>
        </p:spPr>
      </p:sp>
      <p:sp>
        <p:nvSpPr>
          <p:cNvPr id="9" name="Text 7"/>
          <p:cNvSpPr/>
          <p:nvPr/>
        </p:nvSpPr>
        <p:spPr>
          <a:xfrm>
            <a:off x="3383280" y="13258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383280" y="16459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42  /  3.14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83280" y="194767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 or decimal — one type for both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035040" y="1234440"/>
            <a:ext cx="2651760" cy="1097280"/>
          </a:xfrm>
          <a:prstGeom prst="roundRect">
            <a:avLst>
              <a:gd name="adj" fmla="val 6667"/>
            </a:avLst>
          </a:prstGeom>
          <a:solidFill>
            <a:srgbClr val="F4F6FC"/>
          </a:solidFill>
          <a:ln/>
        </p:spPr>
      </p:sp>
      <p:sp>
        <p:nvSpPr>
          <p:cNvPr id="13" name="Text 11"/>
          <p:cNvSpPr/>
          <p:nvPr/>
        </p:nvSpPr>
        <p:spPr>
          <a:xfrm>
            <a:off x="6172200" y="13258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172200" y="16459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  /  false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172200" y="194767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yes/no, on/off switch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2468880"/>
            <a:ext cx="2651760" cy="1097280"/>
          </a:xfrm>
          <a:prstGeom prst="roundRect">
            <a:avLst>
              <a:gd name="adj" fmla="val 6667"/>
            </a:avLst>
          </a:prstGeom>
          <a:solidFill>
            <a:srgbClr val="F4F6FC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25603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94360" y="28803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[1, 2, 3]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94360" y="318211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ordered list of values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46120" y="2468880"/>
            <a:ext cx="2651760" cy="1097280"/>
          </a:xfrm>
          <a:prstGeom prst="roundRect">
            <a:avLst>
              <a:gd name="adj" fmla="val 6667"/>
            </a:avLst>
          </a:prstGeom>
          <a:solidFill>
            <a:srgbClr val="F4F6FC"/>
          </a:solidFill>
          <a:ln/>
        </p:spPr>
      </p:sp>
      <p:sp>
        <p:nvSpPr>
          <p:cNvPr id="21" name="Text 19"/>
          <p:cNvSpPr/>
          <p:nvPr/>
        </p:nvSpPr>
        <p:spPr>
          <a:xfrm>
            <a:off x="3383280" y="25603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383280" y="28803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id: 1 }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383280" y="318211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Labeled data — key/value pairs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035040" y="2468880"/>
            <a:ext cx="2651760" cy="1097280"/>
          </a:xfrm>
          <a:prstGeom prst="roundRect">
            <a:avLst>
              <a:gd name="adj" fmla="val 6667"/>
            </a:avLst>
          </a:prstGeom>
          <a:solidFill>
            <a:srgbClr val="F4F6FC"/>
          </a:solidFill>
          <a:ln/>
        </p:spPr>
      </p:sp>
      <p:sp>
        <p:nvSpPr>
          <p:cNvPr id="25" name="Text 23"/>
          <p:cNvSpPr/>
          <p:nvPr/>
        </p:nvSpPr>
        <p:spPr>
          <a:xfrm>
            <a:off x="6172200" y="25603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undefined / null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172200" y="28803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x;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172200" y="318211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assigned yet, or intentionally empty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57200" y="47960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Crash Course  ·  Slide 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8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CODE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a Profile With Real Data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60920" y="365760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F7DF1E"/>
          </a:solidFill>
          <a:ln/>
        </p:spPr>
      </p:sp>
      <p:sp>
        <p:nvSpPr>
          <p:cNvPr id="5" name="Text 3"/>
          <p:cNvSpPr/>
          <p:nvPr/>
        </p:nvSpPr>
        <p:spPr>
          <a:xfrm>
            <a:off x="7360920" y="36576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CODE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8229600" cy="2834640"/>
          </a:xfrm>
          <a:prstGeom prst="roundRect">
            <a:avLst>
              <a:gd name="adj" fmla="val 2581"/>
            </a:avLst>
          </a:prstGeom>
          <a:solidFill>
            <a:srgbClr val="1E1E2E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1435608"/>
            <a:ext cx="7680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profile = {</a:t>
            </a:r>
            <a:endParaRPr lang="en-US" sz="14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9EC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student: "Ada",</a:t>
            </a:r>
            <a:endParaRPr lang="en-US" sz="14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9EC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cohort: "MERN — July 2026",</a:t>
            </a:r>
            <a:endParaRPr lang="en-US" sz="14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sessionsCompleted: 1,</a:t>
            </a:r>
            <a:endParaRPr lang="en-US" sz="14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isEnrolled: true</a:t>
            </a:r>
            <a:endParaRPr lang="en-US" sz="14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450" dirty="0"/>
          </a:p>
          <a:p>
            <a:pPr indent="0" marL="0">
              <a:lnSpc>
                <a:spcPct val="115000"/>
              </a:lnSpc>
              <a:buNone/>
            </a:pPr>
            <a:endParaRPr lang="en-US" sz="14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console.log(profile.student);</a:t>
            </a:r>
            <a:endParaRPr lang="en-US" sz="14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console.log(`Sessions: ${profile.sessionsCompleted}`);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changing sessionsCompleted and re-logging it. Note the backticks + ${} — that's a template literal.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47960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Crash Course  ·  Slide 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0" y="2926080"/>
            <a:ext cx="2743200" cy="2743200"/>
          </a:xfrm>
          <a:prstGeom prst="ellipse">
            <a:avLst/>
          </a:prstGeom>
          <a:solidFill>
            <a:srgbClr val="26338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74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TWO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219456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Logic &amp; Control Flow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44805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 ·  Data  ·  Logic  ·  Loops  ·  Arrays  ·  Objects  ·  DOM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47960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Crash Course  ·  Slide 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8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&amp; COMBINING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Operators You'll Use Constantly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2697480" cy="1737360"/>
          </a:xfrm>
          <a:prstGeom prst="roundRect">
            <a:avLst>
              <a:gd name="adj" fmla="val 4211"/>
            </a:avLst>
          </a:prstGeom>
          <a:solidFill>
            <a:srgbClr val="F4F6F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7160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Arithmetic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 -  *  /  %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228600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 — % is remainder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37560" y="1234440"/>
            <a:ext cx="2697480" cy="1737360"/>
          </a:xfrm>
          <a:prstGeom prst="roundRect">
            <a:avLst>
              <a:gd name="adj" fmla="val 4211"/>
            </a:avLst>
          </a:prstGeom>
          <a:solidFill>
            <a:srgbClr val="F4F6FC"/>
          </a:solidFill>
          <a:ln/>
        </p:spPr>
      </p:sp>
      <p:sp>
        <p:nvSpPr>
          <p:cNvPr id="9" name="Text 7"/>
          <p:cNvSpPr/>
          <p:nvPr/>
        </p:nvSpPr>
        <p:spPr>
          <a:xfrm>
            <a:off x="3520440" y="137160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520440" y="17373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  !==  &gt;  &lt;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520440" y="228600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use === (checks type too)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1234440"/>
            <a:ext cx="2697480" cy="1737360"/>
          </a:xfrm>
          <a:prstGeom prst="roundRect">
            <a:avLst>
              <a:gd name="adj" fmla="val 4211"/>
            </a:avLst>
          </a:prstGeom>
          <a:solidFill>
            <a:srgbClr val="F4F6FC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0" y="137160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0" y="17373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&amp;&amp;  ||  !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00800" y="228600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/ or / not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246120"/>
            <a:ext cx="8229600" cy="1005840"/>
          </a:xfrm>
          <a:prstGeom prst="roundRect">
            <a:avLst>
              <a:gd name="adj" fmla="val 7273"/>
            </a:avLst>
          </a:prstGeom>
          <a:solidFill>
            <a:srgbClr val="1E1E2E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31520" y="3447288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name = "Ada";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8890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console.log(`Hi, ${name}!`);  // template literal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47960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Crash Course  ·  Slide 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8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DECISIONS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/ else if / else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8229600" cy="3017520"/>
          </a:xfrm>
          <a:prstGeom prst="roundRect">
            <a:avLst>
              <a:gd name="adj" fmla="val 2424"/>
            </a:avLst>
          </a:prstGeom>
          <a:solidFill>
            <a:srgbClr val="1E1E2E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435608"/>
            <a:ext cx="76809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hour = 14;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(hour &lt; 12) {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9EC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console.log("Good morning");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else if (hour &lt; 18) {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9EC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console.log("Good afternoon");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else {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9EC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console.log("Good evening");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condition is checked top to bottom — the first true one runs, then JS stops.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57200" y="47960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Crash Course  ·  Slide 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8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CODE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a Grade Checker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60920" y="365760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F7DF1E"/>
          </a:solidFill>
          <a:ln/>
        </p:spPr>
      </p:sp>
      <p:sp>
        <p:nvSpPr>
          <p:cNvPr id="5" name="Text 3"/>
          <p:cNvSpPr/>
          <p:nvPr/>
        </p:nvSpPr>
        <p:spPr>
          <a:xfrm>
            <a:off x="7360920" y="36576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CODE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8229600" cy="2834640"/>
          </a:xfrm>
          <a:prstGeom prst="roundRect">
            <a:avLst>
              <a:gd name="adj" fmla="val 2581"/>
            </a:avLst>
          </a:prstGeom>
          <a:solidFill>
            <a:srgbClr val="1E1E2E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1435608"/>
            <a:ext cx="7680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getGrade(score) {</a:t>
            </a:r>
            <a:endParaRPr lang="en-US" sz="14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(score &gt;= 90) return "A";</a:t>
            </a:r>
            <a:endParaRPr lang="en-US" sz="14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(score &gt;= 80) return "B";</a:t>
            </a:r>
            <a:endParaRPr lang="en-US" sz="14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(score &gt;= 70) return "C";</a:t>
            </a:r>
            <a:endParaRPr lang="en-US" sz="14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"F";</a:t>
            </a:r>
            <a:endParaRPr lang="en-US" sz="14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50" dirty="0"/>
          </a:p>
          <a:p>
            <a:pPr indent="0" marL="0">
              <a:lnSpc>
                <a:spcPct val="115000"/>
              </a:lnSpc>
              <a:buNone/>
            </a:pPr>
            <a:endParaRPr lang="en-US" sz="14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8890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console.log(getGrade(85));  // "B"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it with a few different scores. What happens right at a boundary like 90?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47960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Crash Course  ·  Slide 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8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REPEATING WORK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for, while &amp; for...of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8229600" cy="3017520"/>
          </a:xfrm>
          <a:prstGeom prst="roundRect">
            <a:avLst>
              <a:gd name="adj" fmla="val 2424"/>
            </a:avLst>
          </a:prstGeom>
          <a:solidFill>
            <a:srgbClr val="1E1E2E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435608"/>
            <a:ext cx="76809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(let i = 1; i &lt;= 5; i++) {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console.log(i);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n = 0;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(n &lt; 3) {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9EC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console.log("n is", n);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n++;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is best when you know how many times; while is best when you don't.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57200" y="47960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Crash Course  ·  Slide 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8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CODE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Classic: FizzBuzz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60920" y="365760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F7DF1E"/>
          </a:solidFill>
          <a:ln/>
        </p:spPr>
      </p:sp>
      <p:sp>
        <p:nvSpPr>
          <p:cNvPr id="5" name="Text 3"/>
          <p:cNvSpPr/>
          <p:nvPr/>
        </p:nvSpPr>
        <p:spPr>
          <a:xfrm>
            <a:off x="7360920" y="36576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CODE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8229600" cy="2651760"/>
          </a:xfrm>
          <a:prstGeom prst="roundRect">
            <a:avLst>
              <a:gd name="adj" fmla="val 2759"/>
            </a:avLst>
          </a:prstGeom>
          <a:solidFill>
            <a:srgbClr val="1E1E2E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1435608"/>
            <a:ext cx="76809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(let i = 1; i &lt;= 15; i++) {</a:t>
            </a:r>
            <a:endParaRPr lang="en-US" sz="14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9EC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(i % 15 === 0) console.log("FizzBuzz");</a:t>
            </a:r>
            <a:endParaRPr lang="en-US" sz="14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9EC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else if (i % 3 === 0) console.log("Fizz");</a:t>
            </a:r>
            <a:endParaRPr lang="en-US" sz="14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9EC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else if (i % 5 === 0) console.log("Buzz");</a:t>
            </a:r>
            <a:endParaRPr lang="en-US" sz="14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else console.log(i);</a:t>
            </a:r>
            <a:endParaRPr lang="en-US" sz="14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457200" y="4069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loops + conditionals + the % operator — a favorite interview warm-up.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47960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Crash Course  ·  Slide 13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0" y="2926080"/>
            <a:ext cx="2743200" cy="2743200"/>
          </a:xfrm>
          <a:prstGeom prst="ellipse">
            <a:avLst/>
          </a:prstGeom>
          <a:solidFill>
            <a:srgbClr val="26338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74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THREE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219456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Arrays &amp; Objects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44805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 ·  Data  ·  Logic  ·  Loops  ·  Arrays  ·  Objects  ·  DOM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47960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Crash Course  ·  Slide 14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8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ORDERED LISTS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Arrays and the Methods You'll Reach For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2651760"/>
          </a:xfrm>
          <a:prstGeom prst="roundRect">
            <a:avLst>
              <a:gd name="adj" fmla="val 2759"/>
            </a:avLst>
          </a:prstGeom>
          <a:solidFill>
            <a:srgbClr val="1E1E2E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389888"/>
            <a:ext cx="76809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9EC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fruits = ["apple", "banana", "cherry"];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8890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fruits[0];              // "apple"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8890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fruits.push("mango");   // add to the end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8890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fruits.length;          // 4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fruits.forEach(f =&gt; console.log(f));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upper = fruits.map(f =&gt; f.toUpperCase());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57200" y="3977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forEach runs code for each item · map builds a new array from each item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57200" y="47960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Crash Course  ·  Slide 15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8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LABELED DATA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Objects: Dot Notation vs Bracket Notation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3246120"/>
          </a:xfrm>
          <a:prstGeom prst="roundRect">
            <a:avLst>
              <a:gd name="adj" fmla="val 2254"/>
            </a:avLst>
          </a:prstGeom>
          <a:solidFill>
            <a:srgbClr val="1E1E2E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389888"/>
            <a:ext cx="768096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car = {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EC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make: "Toyota",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EC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model: "Corolla",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start() {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EC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console.log("Vroom!");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8890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car.make;         // dot notation — "Toyota"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8890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car["model"];     // bracket notation — "Corolla"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8890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car.start();      // calls the method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47960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Crash Course  ·  Slide 16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0" y="2926080"/>
            <a:ext cx="2743200" cy="2743200"/>
          </a:xfrm>
          <a:prstGeom prst="ellipse">
            <a:avLst/>
          </a:prstGeom>
          <a:solidFill>
            <a:srgbClr val="26338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74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FOUR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219456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Functions, DOM &amp; Events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44805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 ·  Data  ·  Logic  ·  Loops  ·  Arrays  ·  Objects  ·  DOM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47960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Crash Course  ·  Slide 17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8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LOGIC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Ways to Write a Function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2880360"/>
          </a:xfrm>
          <a:prstGeom prst="roundRect">
            <a:avLst>
              <a:gd name="adj" fmla="val 2540"/>
            </a:avLst>
          </a:prstGeom>
          <a:solidFill>
            <a:srgbClr val="1E1E2E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389888"/>
            <a:ext cx="768096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add(a, b) {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a + b;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subtract = function (a, b) {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a - b;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8890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multiply = (a, b) =&gt; a * b;   // arrow — implicit return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Arrow functions are the shorthand you'll see most in modern JS code.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57200" y="47960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Crash Course  ·  Slide 18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8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TALKING TO THE PAGE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Selecting &amp; Changing Elements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2103120"/>
          </a:xfrm>
          <a:prstGeom prst="roundRect">
            <a:avLst>
              <a:gd name="adj" fmla="val 3478"/>
            </a:avLst>
          </a:prstGeom>
          <a:solidFill>
            <a:srgbClr val="1E1E2E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389888"/>
            <a:ext cx="7680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9EC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title = document.querySelector("#pageTitle");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8890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title.textContent = "New Heading";   // change text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8890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title.style.color = "navy";          // change a style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8890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title.classList.add("highlight");    // add a CSS class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3429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querySelector accepts any CSS selector: "#id", ".class", or "tag".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57200" y="47960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Crash Course  ·  Slide 19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8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RESPONDING TO PEOPLE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addEventListener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1920240"/>
          </a:xfrm>
          <a:prstGeom prst="roundRect">
            <a:avLst>
              <a:gd name="adj" fmla="val 3810"/>
            </a:avLst>
          </a:prstGeom>
          <a:solidFill>
            <a:srgbClr val="1E1E2E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389888"/>
            <a:ext cx="7680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9EC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btn = document.querySelector("#saveBtn");</a:t>
            </a:r>
            <a:endParaRPr lang="en-US" sz="1450" dirty="0"/>
          </a:p>
          <a:p>
            <a:pPr indent="0" marL="0">
              <a:lnSpc>
                <a:spcPct val="115000"/>
              </a:lnSpc>
              <a:buNone/>
            </a:pPr>
            <a:endParaRPr lang="en-US" sz="14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btn.addEventListener("click", () =&gt; {</a:t>
            </a:r>
            <a:endParaRPr lang="en-US" sz="14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9EC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console.log("Saved!");</a:t>
            </a:r>
            <a:endParaRPr lang="en-US" sz="14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457200" y="32918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events: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365760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4F6FC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36576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click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0" y="365760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4F6FC"/>
          </a:solidFill>
          <a:ln/>
        </p:spPr>
      </p:sp>
      <p:sp>
        <p:nvSpPr>
          <p:cNvPr id="10" name="Text 8"/>
          <p:cNvSpPr/>
          <p:nvPr/>
        </p:nvSpPr>
        <p:spPr>
          <a:xfrm>
            <a:off x="3200400" y="36576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943600" y="365760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4F6FC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0" y="36576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submit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411480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4F6FC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41148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keydown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00400" y="411480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4F6FC"/>
          </a:solidFill>
          <a:ln/>
        </p:spPr>
      </p:sp>
      <p:sp>
        <p:nvSpPr>
          <p:cNvPr id="16" name="Text 14"/>
          <p:cNvSpPr/>
          <p:nvPr/>
        </p:nvSpPr>
        <p:spPr>
          <a:xfrm>
            <a:off x="3200400" y="41148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mouseover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47960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Crash Course  ·  Slide 20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8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CODE — MINI PROJECT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an Interactive Counter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7360920" y="365760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F7DF1E"/>
          </a:solidFill>
          <a:ln/>
        </p:spPr>
      </p:sp>
      <p:sp>
        <p:nvSpPr>
          <p:cNvPr id="5" name="Text 3"/>
          <p:cNvSpPr/>
          <p:nvPr/>
        </p:nvSpPr>
        <p:spPr>
          <a:xfrm>
            <a:off x="7360920" y="36576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CODE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170432"/>
            <a:ext cx="8229600" cy="3566160"/>
          </a:xfrm>
          <a:prstGeom prst="roundRect">
            <a:avLst>
              <a:gd name="adj" fmla="val 2051"/>
            </a:avLst>
          </a:prstGeom>
          <a:solidFill>
            <a:srgbClr val="1E1E2E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1371600"/>
            <a:ext cx="76809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20" dirty="0">
                <a:solidFill>
                  <a:srgbClr val="9EC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&lt;button id="add"&gt;+1&lt;/button&gt;</a:t>
            </a:r>
            <a:endParaRPr lang="en-US" sz="122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2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 id="count"&gt;0&lt;/p&gt;</a:t>
            </a:r>
            <a:endParaRPr lang="en-US" sz="1220" dirty="0"/>
          </a:p>
          <a:p>
            <a:pPr indent="0" marL="0">
              <a:lnSpc>
                <a:spcPct val="115000"/>
              </a:lnSpc>
              <a:buNone/>
            </a:pPr>
            <a:endParaRPr lang="en-US" sz="122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20" dirty="0">
                <a:solidFill>
                  <a:srgbClr val="8890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&lt;script&gt;</a:t>
            </a:r>
            <a:endParaRPr lang="en-US" sz="122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2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count = 0;</a:t>
            </a:r>
            <a:endParaRPr lang="en-US" sz="122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20" dirty="0">
                <a:solidFill>
                  <a:srgbClr val="9EC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btn = document.querySelector("#add");</a:t>
            </a:r>
            <a:endParaRPr lang="en-US" sz="122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20" dirty="0">
                <a:solidFill>
                  <a:srgbClr val="9EC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display = document.querySelector("#count");</a:t>
            </a:r>
            <a:endParaRPr lang="en-US" sz="1220" dirty="0"/>
          </a:p>
          <a:p>
            <a:pPr indent="0" marL="0">
              <a:lnSpc>
                <a:spcPct val="115000"/>
              </a:lnSpc>
              <a:buNone/>
            </a:pPr>
            <a:endParaRPr lang="en-US" sz="122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20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btn.addEventListener("click", () =&gt; {</a:t>
            </a:r>
            <a:endParaRPr lang="en-US" sz="122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2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count++;</a:t>
            </a:r>
            <a:endParaRPr lang="en-US" sz="122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2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display.textContent = count;</a:t>
            </a:r>
            <a:endParaRPr lang="en-US" sz="122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20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});</a:t>
            </a:r>
            <a:endParaRPr lang="en-US" sz="122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20" dirty="0">
                <a:solidFill>
                  <a:srgbClr val="8890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&lt;/script&gt;</a:t>
            </a:r>
            <a:endParaRPr lang="en-US" sz="1220" dirty="0"/>
          </a:p>
        </p:txBody>
      </p:sp>
      <p:sp>
        <p:nvSpPr>
          <p:cNvPr id="8" name="Text 6"/>
          <p:cNvSpPr/>
          <p:nvPr/>
        </p:nvSpPr>
        <p:spPr>
          <a:xfrm>
            <a:off x="457200" y="47960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Crash Course  ·  Slide 21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8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Try These Next, On Your Own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F4F6F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7160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Warm-up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103120" y="137160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function isEven(n) that returns true or false.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377440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F4F6FC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46888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103120" y="246888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through an array of names and log a greeting for each.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3474720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F4F6FC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56616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Stretch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103120" y="356616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button that shows/hides a list, then filters it as you type.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47960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Crash Course  ·  Slide 22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200400" cy="3200400"/>
          </a:xfrm>
          <a:prstGeom prst="ellipse">
            <a:avLst/>
          </a:prstGeom>
          <a:solidFill>
            <a:srgbClr val="26338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5544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Questions?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practicing — MDN Web Docs and W3Schools are great free references for syntax lookups.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3108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developer.mozilla.org  ·  w3schools.com/js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47960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Crash Course  ·  Slide 23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JavaScript Crash Course</dc:title>
  <dc:subject>PptxGenJS Presentation</dc:subject>
  <dc:creator>Advanced Web Development (MERN)</dc:creator>
  <cp:lastModifiedBy>Advanced Web Development (MERN)</cp:lastModifiedBy>
  <cp:revision>1</cp:revision>
  <dcterms:created xsi:type="dcterms:W3CDTF">2026-07-06T11:41:42Z</dcterms:created>
  <dcterms:modified xsi:type="dcterms:W3CDTF">2026-07-06T11:41:42Z</dcterms:modified>
</cp:coreProperties>
</file>